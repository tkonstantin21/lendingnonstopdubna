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0"/>
            <a:ext cx="164592" cy="68580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7A00"/>
                </a:solidFill>
                <a:latin typeface="Calibri"/>
              </a:rPr>
              <a:t>ПОРТФОЛИО · КЕЙС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Лендинг детского спортивного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клуба «Нон-Стоп Дубна»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77639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E9DDD8"/>
                </a:solidFill>
                <a:latin typeface="Calibri"/>
              </a:rPr>
              <a:t>Чирлидинг для девочек 4–18 лет: сайт, который сам продаёт абонемент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E9DDD8"/>
                </a:solidFill>
                <a:latin typeface="Calibri"/>
              </a:rPr>
              <a:t>и собирает заявки в таблицу без CRM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120640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B5A39C"/>
                </a:solidFill>
                <a:latin typeface="Calibri"/>
              </a:rPr>
              <a:t>2026  ·  Одностраничный сайт + панель управления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ЗАДАЧА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Кто заказчик и что нужно было сделать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Спортивный клуб, который живёт в Дубне и ведёт сообщество родителей во ВКонтакте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>
                <a:solidFill>
                  <a:srgbClr val="E8231E"/>
                </a:solidFill>
                <a:latin typeface="Calibri"/>
              </a:rPr>
              <a:t>▶  </a:t>
            </a:r>
            <a:r>
              <a:rPr sz="1600" b="1">
                <a:solidFill>
                  <a:srgbClr val="22110F"/>
                </a:solidFill>
                <a:latin typeface="Calibri"/>
              </a:rPr>
              <a:t>Ниша  </a:t>
            </a:r>
            <a:r>
              <a:rPr sz="1600">
                <a:solidFill>
                  <a:srgbClr val="22110F"/>
                </a:solidFill>
                <a:latin typeface="Calibri"/>
              </a:rPr>
              <a:t>Детский чирлидинг, девочки 4–18 лет, 5 возрастных групп, 6 направлений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>
                <a:solidFill>
                  <a:srgbClr val="E8231E"/>
                </a:solidFill>
                <a:latin typeface="Calibri"/>
              </a:rPr>
              <a:t>▶  </a:t>
            </a:r>
            <a:r>
              <a:rPr sz="1600" b="1">
                <a:solidFill>
                  <a:srgbClr val="22110F"/>
                </a:solidFill>
                <a:latin typeface="Calibri"/>
              </a:rPr>
              <a:t>Кто принимает решение  </a:t>
            </a:r>
            <a:r>
              <a:rPr sz="1600">
                <a:solidFill>
                  <a:srgbClr val="22110F"/>
                </a:solidFill>
                <a:latin typeface="Calibri"/>
              </a:rPr>
              <a:t>Мама. Она не «ищет кружок», а ищет решение проблемы: осанка, гаджеты, одиночество, «улица»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>
                <a:solidFill>
                  <a:srgbClr val="E8231E"/>
                </a:solidFill>
                <a:latin typeface="Calibri"/>
              </a:rPr>
              <a:t>▶  </a:t>
            </a:r>
            <a:r>
              <a:rPr sz="1600" b="1">
                <a:solidFill>
                  <a:srgbClr val="22110F"/>
                </a:solidFill>
                <a:latin typeface="Calibri"/>
              </a:rPr>
              <a:t>Бюджет ограничен  </a:t>
            </a:r>
            <a:r>
              <a:rPr sz="1600">
                <a:solidFill>
                  <a:srgbClr val="22110F"/>
                </a:solidFill>
                <a:latin typeface="Calibri"/>
              </a:rPr>
              <a:t>Нужен сайт, который работает сам, без оператора и без студии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300">
                <a:solidFill>
                  <a:srgbClr val="E8231E"/>
                </a:solidFill>
                <a:latin typeface="Calibri"/>
              </a:rPr>
              <a:t>▶  </a:t>
            </a:r>
            <a:r>
              <a:rPr sz="1600" b="1">
                <a:solidFill>
                  <a:srgbClr val="22110F"/>
                </a:solidFill>
                <a:latin typeface="Calibri"/>
              </a:rPr>
              <a:t>Задача  </a:t>
            </a:r>
            <a:r>
              <a:rPr sz="1600">
                <a:solidFill>
                  <a:srgbClr val="22110F"/>
                </a:solidFill>
                <a:latin typeface="Calibri"/>
              </a:rPr>
              <a:t>Собрать заявки на бесплатное пробное занятие и показать, что это серьёзный спорт, а не «кружок во дворе»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377440"/>
            <a:ext cx="4754880" cy="356616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8231E"/>
                </a:solidFill>
                <a:latin typeface="Calibri"/>
              </a:rPr>
              <a:t>Главная сложность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06324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22110F"/>
                </a:solidFill>
                <a:latin typeface="Calibri"/>
              </a:rPr>
              <a:t>Детский спорт — это не «купить и забыть».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1500" b="0" i="0">
              <a:solidFill>
                <a:srgbClr val="22110F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22110F"/>
                </a:solidFill>
                <a:latin typeface="Calibri"/>
              </a:rPr>
              <a:t>Ребёнок бросает через месяц, если не увидит результат и друзей. Значит, сайт должен продавать не «абонемент», а эмоцию: команду, сцену, медаль и то, что дочь наконец перестанет сидеть в телефоне.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КОНЦЕПЦИЯ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Логика страницы: от боли родителя — к его действию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Каждый блок отвечает на один вопрос и ведёт к следующему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691640" cy="457200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691640" cy="237744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971800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Боли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383280"/>
            <a:ext cx="1517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3 страха мамы: гаджеты и осанка,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«улица» и плохая компания,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замкнутость ребёнка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377440"/>
            <a:ext cx="169164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2450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834640"/>
            <a:ext cx="1691640" cy="237744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70048" y="2971800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Цифры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383280"/>
            <a:ext cx="1517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0 ₽ — пробное занятие,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4 недели — до осанки,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многолетний опыт с 4 лет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377440"/>
            <a:ext cx="169164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2450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834640"/>
            <a:ext cx="1691640" cy="237744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971800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Решения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383280"/>
            <a:ext cx="1517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4 карточки «мы делаем X 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вы получаете Y»: команда вместо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улицы, осанка, сцена, безопасность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77440"/>
            <a:ext cx="169164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2450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834640"/>
            <a:ext cx="1691640" cy="237744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7648" y="2971800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Направления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383280"/>
            <a:ext cx="1517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6 направлений и 5 возрастных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групп — видно, что ребёнку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подберут по возрасту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377440"/>
            <a:ext cx="1691640" cy="45720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2450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834640"/>
            <a:ext cx="1691640" cy="237744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6448" y="2971800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Доверие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383280"/>
            <a:ext cx="1517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Отзывы мам, галерея, кубки,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адрес, телефон, WhatsApp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0" y="2377440"/>
            <a:ext cx="1691640" cy="457200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245059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2834640"/>
            <a:ext cx="1691640" cy="237744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85248" y="2971800"/>
            <a:ext cx="1481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Заявка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85248" y="3383280"/>
            <a:ext cx="151790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Бесплатное пробное занятие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в 2 клика: модалка + форма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внизу страницы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8231E"/>
                </a:solidFill>
                <a:latin typeface="Calibri"/>
              </a:rPr>
              <a:t>Тон текстов — тёплый и конкретный: без «науки», «системы развития» и «потенциала ребёнка».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КОНВЕРСИЯ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Продающие механики, которые работают на заявку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Без «попробуйте, может понравиться» — с конкретикой и дефицитом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669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Бесплатное пробное  </a:t>
            </a:r>
            <a:r>
              <a:rPr sz="1500">
                <a:solidFill>
                  <a:srgbClr val="22110F"/>
                </a:solidFill>
                <a:latin typeface="Calibri"/>
              </a:rPr>
              <a:t>Снимает главный барьер: «а вдруг не понравится»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Дефицит мест  </a:t>
            </a:r>
            <a:r>
              <a:rPr sz="1500">
                <a:solidFill>
                  <a:srgbClr val="22110F"/>
                </a:solidFill>
                <a:latin typeface="Calibri"/>
              </a:rPr>
              <a:t>«Осталось 2 места», «осталось 4 места» — в плашках и в футере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Быстрый отклик  </a:t>
            </a:r>
            <a:r>
              <a:rPr sz="1500">
                <a:solidFill>
                  <a:srgbClr val="22110F"/>
                </a:solidFill>
                <a:latin typeface="Calibri"/>
              </a:rPr>
              <a:t>«Перезвоним за 15 минут» — обещание, которое проверяемо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Ноль спама  </a:t>
            </a:r>
            <a:r>
              <a:rPr sz="1500">
                <a:solidFill>
                  <a:srgbClr val="22110F"/>
                </a:solidFill>
                <a:latin typeface="Calibri"/>
              </a:rPr>
              <a:t>Явная фраза «никакого спама» снимает тревогу за телефон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Страховка  </a:t>
            </a:r>
            <a:r>
              <a:rPr sz="1500">
                <a:solidFill>
                  <a:srgbClr val="22110F"/>
                </a:solidFill>
                <a:latin typeface="Calibri"/>
              </a:rPr>
              <a:t>«Если формат не подойдёт — ничего не платите и никуда не записываетесь»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Кнопки рядом  </a:t>
            </a:r>
            <a:r>
              <a:rPr sz="1500">
                <a:solidFill>
                  <a:srgbClr val="22110F"/>
                </a:solidFill>
                <a:latin typeface="Calibri"/>
              </a:rPr>
              <a:t>Запись есть в шапке, в баннере, в оффере, в футере и в мобильной версии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331720"/>
            <a:ext cx="4663440" cy="3657600"/>
          </a:xfrm>
          <a:prstGeom prst="rect">
            <a:avLst/>
          </a:prstGeom>
          <a:solidFill>
            <a:srgbClr val="2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6060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7A00"/>
                </a:solidFill>
                <a:latin typeface="Calibri"/>
              </a:rPr>
              <a:t>Механика сбора контакта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017520"/>
            <a:ext cx="4069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Пользователю не нужно придумывать, что делать: одна главная кнопка «Записать ребенка на пробное занятие» ведёт в модалку с короткой формой.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1400" b="0" i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Поля — только те, что реально нужны администратору: имя и фамилия ребёнка, родитель, телефон, группа и направление. Лишних полей нет — это снижает отказы.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ФИШКА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Панель руководителя: сайт редактируется сам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Заказчик меняет акцент на сайте без программиста — за 30 секунд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Вход по коду  </a:t>
            </a:r>
            <a:r>
              <a:rPr sz="1500">
                <a:solidFill>
                  <a:srgbClr val="22110F"/>
                </a:solidFill>
                <a:latin typeface="Calibri"/>
              </a:rPr>
              <a:t>Кнопка ⚙ в шапке, скрыта на телефоне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Конструктор баннера  </a:t>
            </a:r>
            <a:r>
              <a:rPr sz="1500">
                <a:solidFill>
                  <a:srgbClr val="22110F"/>
                </a:solidFill>
                <a:latin typeface="Calibri"/>
              </a:rPr>
              <a:t>6 направлений с готовыми текстами, меняется в 1 клик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Количество мест  </a:t>
            </a:r>
            <a:r>
              <a:rPr sz="1500">
                <a:solidFill>
                  <a:srgbClr val="22110F"/>
                </a:solidFill>
                <a:latin typeface="Calibri"/>
              </a:rPr>
              <a:t>Вводится цифрой — плашка «осталось N мест» и «Хит набора» обновляются сами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Сохранение  </a:t>
            </a:r>
            <a:r>
              <a:rPr sz="1500">
                <a:solidFill>
                  <a:srgbClr val="22110F"/>
                </a:solidFill>
                <a:latin typeface="Calibri"/>
              </a:rPr>
              <a:t>Настройки хранятся в браузере, переживают перезагрузку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Сброс  </a:t>
            </a:r>
            <a:r>
              <a:rPr sz="1500">
                <a:solidFill>
                  <a:srgbClr val="22110F"/>
                </a:solidFill>
                <a:latin typeface="Calibri"/>
              </a:rPr>
              <a:t>Кнопка «Сбросить» возвращает исходный баннер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Метки  </a:t>
            </a:r>
            <a:r>
              <a:rPr sz="1500">
                <a:solidFill>
                  <a:srgbClr val="22110F"/>
                </a:solidFill>
                <a:latin typeface="Calibri"/>
              </a:rPr>
              <a:t>Бейдж «Хит набора» всегда на том направлении, которое сейчас в баннере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331720"/>
            <a:ext cx="4572000" cy="3749039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2606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8231E"/>
                </a:solidFill>
                <a:latin typeface="Calibri"/>
              </a:rPr>
              <a:t>Что это даёт бизнесу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01752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22110F"/>
                </a:solidFill>
                <a:latin typeface="Calibri"/>
              </a:rPr>
              <a:t>Сезон сменился — новое направление в баннере, старые записи и «хит набора» переехали на нужную карточку.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1400" b="0" i="0">
              <a:solidFill>
                <a:srgbClr val="22110F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22110F"/>
                </a:solidFill>
                <a:latin typeface="Calibri"/>
              </a:rPr>
              <a:t>Заказчику не нужно вызывать разработчика и ждать правки. Это экономит деньги на каждой смене акцента и снимает главный страх малого бизнеса: «сайт устареет, и всё придётся переделывать».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ЗАЯВКИ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5429" y="868680"/>
            <a:ext cx="11258937" cy="65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 dirty="0" err="1">
                <a:solidFill>
                  <a:srgbClr val="22110F"/>
                </a:solidFill>
                <a:latin typeface="Calibri"/>
              </a:rPr>
              <a:t>Заявка</a:t>
            </a:r>
            <a:r>
              <a:rPr sz="3400" b="1" i="0" dirty="0">
                <a:solidFill>
                  <a:srgbClr val="22110F"/>
                </a:solidFill>
                <a:latin typeface="Calibri"/>
              </a:rPr>
              <a:t> </a:t>
            </a:r>
            <a:r>
              <a:rPr sz="3400" b="1" i="0" dirty="0" err="1">
                <a:solidFill>
                  <a:srgbClr val="22110F"/>
                </a:solidFill>
                <a:latin typeface="Calibri"/>
              </a:rPr>
              <a:t>доходит</a:t>
            </a:r>
            <a:r>
              <a:rPr sz="3400" b="1" i="0" dirty="0">
                <a:solidFill>
                  <a:srgbClr val="22110F"/>
                </a:solidFill>
                <a:latin typeface="Calibri"/>
              </a:rPr>
              <a:t> </a:t>
            </a:r>
            <a:r>
              <a:rPr sz="3400" b="1" i="0" dirty="0" err="1">
                <a:solidFill>
                  <a:srgbClr val="22110F"/>
                </a:solidFill>
                <a:latin typeface="Calibri"/>
              </a:rPr>
              <a:t>до</a:t>
            </a:r>
            <a:r>
              <a:rPr sz="3400" b="1" i="0" dirty="0">
                <a:solidFill>
                  <a:srgbClr val="22110F"/>
                </a:solidFill>
                <a:latin typeface="Calibri"/>
              </a:rPr>
              <a:t> </a:t>
            </a:r>
            <a:r>
              <a:rPr sz="3400" b="1" i="0" dirty="0" err="1">
                <a:solidFill>
                  <a:srgbClr val="22110F"/>
                </a:solidFill>
                <a:latin typeface="Calibri"/>
              </a:rPr>
              <a:t>администратора</a:t>
            </a:r>
            <a:r>
              <a:rPr sz="3400" b="1" i="0" dirty="0">
                <a:solidFill>
                  <a:srgbClr val="22110F"/>
                </a:solidFill>
                <a:latin typeface="Calibri"/>
              </a:rPr>
              <a:t> и </a:t>
            </a:r>
            <a:r>
              <a:rPr sz="3400" b="1" i="0" dirty="0" err="1">
                <a:solidFill>
                  <a:srgbClr val="22110F"/>
                </a:solidFill>
                <a:latin typeface="Calibri"/>
              </a:rPr>
              <a:t>попадает</a:t>
            </a:r>
            <a:r>
              <a:rPr sz="3400" b="1" i="0" dirty="0">
                <a:solidFill>
                  <a:srgbClr val="22110F"/>
                </a:solidFill>
                <a:latin typeface="Calibri"/>
              </a:rPr>
              <a:t> в </a:t>
            </a:r>
            <a:r>
              <a:rPr sz="3400" b="1" i="0" dirty="0" err="1">
                <a:solidFill>
                  <a:srgbClr val="22110F"/>
                </a:solidFill>
                <a:latin typeface="Calibri"/>
              </a:rPr>
              <a:t>таблицу</a:t>
            </a:r>
            <a:endParaRPr sz="3400" b="1" i="0" dirty="0">
              <a:solidFill>
                <a:srgbClr val="22110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Без CRM, без подписки, без «напишите нам в директ»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Форма 1  </a:t>
            </a:r>
            <a:r>
              <a:rPr sz="1500">
                <a:solidFill>
                  <a:srgbClr val="22110F"/>
                </a:solidFill>
                <a:latin typeface="Calibri"/>
              </a:rPr>
              <a:t>Модальное окно — по кнопке в любой точке страницы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Форма 2  </a:t>
            </a:r>
            <a:r>
              <a:rPr sz="1500">
                <a:solidFill>
                  <a:srgbClr val="22110F"/>
                </a:solidFill>
                <a:latin typeface="Calibri"/>
              </a:rPr>
              <a:t>В финальном блоке — для тех, кто доскроллил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Валидация  </a:t>
            </a:r>
            <a:r>
              <a:rPr sz="1500">
                <a:solidFill>
                  <a:srgbClr val="22110F"/>
                </a:solidFill>
                <a:latin typeface="Calibri"/>
              </a:rPr>
              <a:t>Подсветка незаполненных полей и требование согласия на обработку данных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Телефон  </a:t>
            </a:r>
            <a:r>
              <a:rPr sz="1500">
                <a:solidFill>
                  <a:srgbClr val="22110F"/>
                </a:solidFill>
                <a:latin typeface="Calibri"/>
              </a:rPr>
              <a:t>Маска ввода, приходит в таблицу строкой «+7 (926) 027-76-96» — без #ERROR! в Таблицах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331720"/>
            <a:ext cx="466344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0" y="2331720"/>
            <a:ext cx="4663440" cy="457200"/>
          </a:xfrm>
          <a:prstGeom prst="rect">
            <a:avLst/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Куда уходит заявка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971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2110F"/>
                </a:solidFill>
                <a:latin typeface="Calibri"/>
              </a:rPr>
              <a:t>Google Таблица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2644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строка с датой, именем, телефоном, группой и направлением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9319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2110F"/>
                </a:solidFill>
                <a:latin typeface="Calibri"/>
              </a:rPr>
              <a:t>WhatsApp / Telegram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2245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резервный канал, если скрипт временно недоступен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8920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22110F"/>
                </a:solidFill>
                <a:latin typeface="Calibri"/>
              </a:rPr>
              <a:t>Человеку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1846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всё то же самое, только в читаемом виде за 10 секунд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5623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1">
                <a:solidFill>
                  <a:srgbClr val="6E5B57"/>
                </a:solidFill>
                <a:latin typeface="Calibri"/>
              </a:rPr>
              <a:t>Согласие на обработку ПД — внутри формы, по 152-ФЗ.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ДИЗАЙН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Визуальный язык: тепло, энергия, «клуб»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 dirty="0" err="1">
                <a:solidFill>
                  <a:srgbClr val="6E5B57"/>
                </a:solidFill>
                <a:latin typeface="Calibri"/>
              </a:rPr>
              <a:t>Сайт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должен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выглядеть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дороже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бесплатного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кружка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но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не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как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фитнес-сайт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для</a:t>
            </a:r>
            <a:r>
              <a:rPr sz="1600" b="0" i="0" dirty="0">
                <a:solidFill>
                  <a:srgbClr val="6E5B57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E5B57"/>
                </a:solidFill>
                <a:latin typeface="Calibri"/>
              </a:rPr>
              <a:t>взрослых</a:t>
            </a:r>
            <a:endParaRPr sz="1600" b="0" i="0" dirty="0">
              <a:solidFill>
                <a:srgbClr val="6E5B57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669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 dirty="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Палитра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Тёплые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красный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и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оранжевый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—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энергия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спорта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бирюзовый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—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свежесть</a:t>
            </a:r>
            <a:endParaRPr sz="1500" dirty="0">
              <a:solidFill>
                <a:srgbClr val="22110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 dirty="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Карточки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Стеклянный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эффект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мягкие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тени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скруглённые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углы</a:t>
            </a:r>
            <a:endParaRPr sz="1500" dirty="0">
              <a:solidFill>
                <a:srgbClr val="22110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 dirty="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Иллюстрация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Собственная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панель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«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Чир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Спорт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Дубна</a:t>
            </a:r>
            <a:r>
              <a:rPr sz="1500" dirty="0">
                <a:solidFill>
                  <a:srgbClr val="22110F"/>
                </a:solidFill>
                <a:latin typeface="Calibri"/>
              </a:rPr>
              <a:t>» с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эмблемой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и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подвижными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кнопками</a:t>
            </a:r>
            <a:endParaRPr sz="1500" dirty="0">
              <a:solidFill>
                <a:srgbClr val="22110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 dirty="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Анимация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Появление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блоков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при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скролле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счётчики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параллакс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бегущая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строка</a:t>
            </a:r>
            <a:endParaRPr sz="1500" dirty="0">
              <a:solidFill>
                <a:srgbClr val="22110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 dirty="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Дети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в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кадре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Реальные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фотографии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команд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соревнований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и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тренировок</a:t>
            </a:r>
            <a:endParaRPr sz="1500" dirty="0">
              <a:solidFill>
                <a:srgbClr val="22110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 dirty="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 dirty="0" err="1">
                <a:solidFill>
                  <a:srgbClr val="22110F"/>
                </a:solidFill>
                <a:latin typeface="Calibri"/>
              </a:rPr>
              <a:t>Мобильный</a:t>
            </a:r>
            <a:r>
              <a:rPr sz="1500" b="1" dirty="0">
                <a:solidFill>
                  <a:srgbClr val="22110F"/>
                </a:solidFill>
                <a:latin typeface="Calibri"/>
              </a:rPr>
              <a:t> 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Бургер-меню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крупные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кнопки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блоки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в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одну</a:t>
            </a:r>
            <a:r>
              <a:rPr sz="1500" dirty="0">
                <a:solidFill>
                  <a:srgbClr val="22110F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22110F"/>
                </a:solidFill>
                <a:latin typeface="Calibri"/>
              </a:rPr>
              <a:t>колонку</a:t>
            </a:r>
            <a:endParaRPr sz="1500" dirty="0">
              <a:solidFill>
                <a:srgbClr val="22110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66560" y="2377440"/>
            <a:ext cx="4663440" cy="356616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8231E"/>
                </a:solidFill>
                <a:latin typeface="Calibri"/>
              </a:rPr>
              <a:t>Почему не «как у всех»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063240"/>
            <a:ext cx="4069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22110F"/>
                </a:solidFill>
                <a:latin typeface="Calibri"/>
              </a:rPr>
              <a:t>Типовые сайты кружков — фото детей, календарь и кнопка «Позвонить». Здесь сначала идёт проблема родителя, потом решение, и только потом — предложение.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sz="1400" b="0" i="0">
              <a:solidFill>
                <a:srgbClr val="22110F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 i="0">
                <a:solidFill>
                  <a:srgbClr val="22110F"/>
                </a:solidFill>
                <a:latin typeface="Calibri"/>
              </a:rPr>
              <a:t>Так посетитель узнаёт себя в первые 10 секунд и дочитывает страницу до кнопки.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СКОРОСТЬ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Сайт грузится быстро — это часть конверсии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Мама заходит с телефона по ссылке из ВК. Каждая секунда ожидания — потерянная заявка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057400" cy="246888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05740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2110F"/>
                </a:solidFill>
                <a:latin typeface="Calibri"/>
              </a:rPr>
              <a:t>Асинхронные шрифты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918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Шрифты грузятся параллельно, текст рисуется сразу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468880"/>
            <a:ext cx="2057400" cy="246888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26080" y="2468880"/>
            <a:ext cx="205740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0672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2110F"/>
                </a:solidFill>
                <a:latin typeface="Calibri"/>
              </a:rPr>
              <a:t>Лёгкие картинки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2918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Фото сжаты и пережаты, галерея — около 200 КБ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468880"/>
            <a:ext cx="2057400" cy="246888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0" y="2468880"/>
            <a:ext cx="205740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1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2110F"/>
                </a:solidFill>
                <a:latin typeface="Calibri"/>
              </a:rPr>
              <a:t>Умная отрисовка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32918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Блоки ниже первого экрана не отрисовываются, пока их не видно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68880"/>
            <a:ext cx="2057400" cy="246888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2468880"/>
            <a:ext cx="205740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9792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2110F"/>
                </a:solidFill>
                <a:latin typeface="Calibri"/>
              </a:rPr>
              <a:t>Без тяжёлых эффектов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32918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Мягкие фильтры вместо тяжёлых, без перерисовки на слабых телефонах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468880"/>
            <a:ext cx="2057400" cy="246888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2468880"/>
            <a:ext cx="205740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74352" y="2697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2110F"/>
                </a:solidFill>
                <a:latin typeface="Calibri"/>
              </a:rPr>
              <a:t>Локальный запуск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3291840"/>
            <a:ext cx="1783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i="0">
                <a:solidFill>
                  <a:srgbClr val="6E5B57"/>
                </a:solidFill>
                <a:latin typeface="Calibri"/>
              </a:rPr>
              <a:t>Один файл + папка с картинками: нет лишних запросов и зависимостей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8231E"/>
                </a:solidFill>
                <a:latin typeface="Calibri"/>
              </a:rPr>
              <a:t>Результат: сайт открывается одинаково быстро на слабом мобильном интернете в Дубне.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РАЗВИТИЕ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Сайт готов к расширению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Точка входа уже сделана — остальное наращивается без переделки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Аналитика  </a:t>
            </a:r>
            <a:r>
              <a:rPr sz="1500">
                <a:solidFill>
                  <a:srgbClr val="22110F"/>
                </a:solidFill>
                <a:latin typeface="Calibri"/>
              </a:rPr>
              <a:t>Подключение Яндекс.Метрики — код подготовлен, счётчик грузится после согласия посетителя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Свои фото и видео  </a:t>
            </a:r>
            <a:r>
              <a:rPr sz="1500">
                <a:solidFill>
                  <a:srgbClr val="22110F"/>
                </a:solidFill>
                <a:latin typeface="Calibri"/>
              </a:rPr>
              <a:t>Блоки под переполнение: галерея, зал, сборы, соревнования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Расписание  </a:t>
            </a:r>
            <a:r>
              <a:rPr sz="1500">
                <a:solidFill>
                  <a:srgbClr val="22110F"/>
                </a:solidFill>
                <a:latin typeface="Calibri"/>
              </a:rPr>
              <a:t>Таблица занятий по группам и дням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Отзывы  </a:t>
            </a:r>
            <a:r>
              <a:rPr sz="1500">
                <a:solidFill>
                  <a:srgbClr val="22110F"/>
                </a:solidFill>
                <a:latin typeface="Calibri"/>
              </a:rPr>
              <a:t>Виджет ВКонтакте вместо ручных карточек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Публикация  </a:t>
            </a:r>
            <a:r>
              <a:rPr sz="1500">
                <a:solidFill>
                  <a:srgbClr val="22110F"/>
                </a:solidFill>
                <a:latin typeface="Calibri"/>
              </a:rPr>
              <a:t>Домен, хостинг, SSL, карта и форма для карт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200">
                <a:solidFill>
                  <a:srgbClr val="E8231E"/>
                </a:solidFill>
                <a:latin typeface="Calibri"/>
              </a:rPr>
              <a:t>▶  </a:t>
            </a:r>
            <a:r>
              <a:rPr sz="1500" b="1">
                <a:solidFill>
                  <a:srgbClr val="22110F"/>
                </a:solidFill>
                <a:latin typeface="Calibri"/>
              </a:rPr>
              <a:t>Мобильное приложение  </a:t>
            </a:r>
            <a:r>
              <a:rPr sz="1500">
                <a:solidFill>
                  <a:srgbClr val="22110F"/>
                </a:solidFill>
                <a:latin typeface="Calibri"/>
              </a:rPr>
              <a:t>Только если это оправдано задачами клуба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2377440"/>
            <a:ext cx="4663440" cy="3566160"/>
          </a:xfrm>
          <a:prstGeom prst="rect">
            <a:avLst/>
          </a:prstGeom>
          <a:solidFill>
            <a:srgbClr val="2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651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7A00"/>
                </a:solidFill>
                <a:latin typeface="Calibri"/>
              </a:rPr>
              <a:t>Что входит в работу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063240"/>
            <a:ext cx="4069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Разбор ниши и конкурентов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Тексты под ключевые запросы родителей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Дизайн и вёрстка, адаптив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Формы, интеграция с таблицей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Панель управления рекламным блоком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• Тест заявок и передача инструкции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FF7A00"/>
                </a:solidFill>
                <a:latin typeface="Calibri"/>
              </a:rPr>
              <a:t>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22110F"/>
                </a:solidFill>
                <a:latin typeface="Calibri"/>
              </a:rPr>
              <a:t>Что получает клиент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6E5B57"/>
                </a:solidFill>
                <a:latin typeface="Calibri"/>
              </a:rPr>
              <a:t>Работающий инструмент записи, а не «красивый сайт»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606040" cy="265176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606040" cy="109728"/>
          </a:xfrm>
          <a:prstGeom prst="rect">
            <a:avLst/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Заявки в таблице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832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Каждая заявка — строка с именем, телефоном, группой и направлением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468880"/>
            <a:ext cx="2606040" cy="265176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468880"/>
            <a:ext cx="2606040" cy="109728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6974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Сайт под 4–18 лет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3832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6 направлений и 5 возрастных групп, тексты согласованы с тренером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468880"/>
            <a:ext cx="2606040" cy="265176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2606040" cy="109728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6974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Панель управления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832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Руководитель сам меняет баннер, места и «хит набора»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468880"/>
            <a:ext cx="2606040" cy="2651760"/>
          </a:xfrm>
          <a:prstGeom prst="rect">
            <a:avLst/>
          </a:prstGeom>
          <a:solidFill>
            <a:srgbClr val="F7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2468880"/>
            <a:ext cx="2606040" cy="109728"/>
          </a:xfrm>
          <a:prstGeom prst="rect">
            <a:avLst/>
          </a:prstGeom>
          <a:solidFill>
            <a:srgbClr val="6E5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6974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22110F"/>
                </a:solidFill>
                <a:latin typeface="Calibri"/>
              </a:rPr>
              <a:t>Готовность к правкам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3832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6E5B57"/>
                </a:solidFill>
                <a:latin typeface="Calibri"/>
              </a:rPr>
              <a:t>Все тексты вынесены в один файл — контентщик правит без верстальщика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E8231E"/>
                </a:solidFill>
                <a:latin typeface="Calibri"/>
              </a:rPr>
              <a:t>Сайт работает на запись с первого дня и остаётся рабочим, когда акценты меняются.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Кейс: лендинг детского спортивного клуба «Нон-Стоп Дубна»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263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E5B5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1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108960" cy="12801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F7A00"/>
                </a:solidFill>
                <a:latin typeface="Calibri"/>
              </a:rPr>
              <a:t>СВЯЗАТЬСЯ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Сделаем такой же сайт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для вашего проекта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800" b="0" i="0" dirty="0" err="1">
                <a:solidFill>
                  <a:srgbClr val="E9DDD8"/>
                </a:solidFill>
                <a:latin typeface="Calibri"/>
              </a:rPr>
              <a:t>Телефон</a:t>
            </a:r>
            <a:r>
              <a:rPr sz="1800" b="0" i="0" dirty="0">
                <a:solidFill>
                  <a:srgbClr val="E9DDD8"/>
                </a:solidFill>
                <a:latin typeface="Calibri"/>
              </a:rPr>
              <a:t> / Telegram:  +7 (___) ___-__-__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800" b="0" i="0" dirty="0">
                <a:solidFill>
                  <a:srgbClr val="E9DDD8"/>
                </a:solidFill>
                <a:latin typeface="Calibri"/>
              </a:rPr>
              <a:t>E-mail:  ____________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800" b="0" i="0" dirty="0">
                <a:solidFill>
                  <a:srgbClr val="E9DDD8"/>
                </a:solidFill>
                <a:latin typeface="Calibri"/>
              </a:rPr>
              <a:t>Telegram:  @________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800" b="0" i="0" dirty="0" err="1">
                <a:solidFill>
                  <a:srgbClr val="E9DDD8"/>
                </a:solidFill>
                <a:latin typeface="Calibri"/>
              </a:rPr>
              <a:t>Портфолио</a:t>
            </a:r>
            <a:r>
              <a:rPr sz="1800" b="0" i="0" dirty="0">
                <a:solidFill>
                  <a:srgbClr val="E9DDD8"/>
                </a:solidFill>
                <a:latin typeface="Calibri"/>
              </a:rPr>
              <a:t> и </a:t>
            </a:r>
            <a:r>
              <a:rPr sz="1800" b="0" i="0" dirty="0" err="1">
                <a:solidFill>
                  <a:srgbClr val="E9DDD8"/>
                </a:solidFill>
                <a:latin typeface="Calibri"/>
              </a:rPr>
              <a:t>примеры</a:t>
            </a:r>
            <a:r>
              <a:rPr sz="1800" b="0" i="0" dirty="0">
                <a:solidFill>
                  <a:srgbClr val="E9DDD8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E9DDD8"/>
                </a:solidFill>
                <a:latin typeface="Calibri"/>
              </a:rPr>
              <a:t>работ</a:t>
            </a:r>
            <a:r>
              <a:rPr sz="1800" b="0" i="0" dirty="0">
                <a:solidFill>
                  <a:srgbClr val="E9DDD8"/>
                </a:solidFill>
                <a:latin typeface="Calibri"/>
              </a:rPr>
              <a:t>:  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B5A39C"/>
                </a:solidFill>
                <a:latin typeface="Calibri"/>
              </a:rPr>
              <a:t>Кейс: детский спортивный клуб «Нон-Стоп Дубна», Дубна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1378</Words>
  <Application>Microsoft Office PowerPoint</Application>
  <PresentationFormat>Широкоэкранный</PresentationFormat>
  <Paragraphs>172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Пользователь</cp:lastModifiedBy>
  <cp:revision>2</cp:revision>
  <dcterms:created xsi:type="dcterms:W3CDTF">2013-01-27T09:14:16Z</dcterms:created>
  <dcterms:modified xsi:type="dcterms:W3CDTF">2026-09-28T10:54:18Z</dcterms:modified>
  <cp:category/>
</cp:coreProperties>
</file>